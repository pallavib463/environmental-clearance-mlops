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37160" cy="3474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06B6D4"/>
                </a:solidFill>
              </a:defRPr>
            </a:pPr>
            <a:r>
              <a:t>UE24AM342AA5 — ML SYSTEM DESIGN &amp; AGENTOPS · MINI PROJECT 13</a:t>
            </a:r>
          </a:p>
          <a:p>
            <a:pPr>
              <a:spcAft>
                <a:spcPts val="1600"/>
              </a:spcAft>
              <a:defRPr sz="3800" b="1">
                <a:solidFill>
                  <a:srgbClr val="F5F7FA"/>
                </a:solidFill>
              </a:defRPr>
            </a:pPr>
            <a:r>
              <a:t>Environmental Clearance</a:t>
            </a:r>
            <a:br/>
            <a:r>
              <a:t>Pre-Screening Service</a:t>
            </a:r>
          </a:p>
          <a:p>
            <a:pPr>
              <a:spcAft>
                <a:spcPts val="2400"/>
              </a:spcAft>
              <a:defRPr sz="1700">
                <a:solidFill>
                  <a:srgbClr val="9CA3AF"/>
                </a:solidFill>
              </a:defRPr>
            </a:pPr>
            <a:r>
              <a:t>A Production Multi-Agent Legal Reasoning &amp; Verification System under EIA Notification, 2006</a:t>
            </a:r>
          </a:p>
          <a:p>
            <a:pPr>
              <a:defRPr sz="1400" b="1">
                <a:solidFill>
                  <a:srgbClr val="10B981"/>
                </a:solidFill>
              </a:defRPr>
            </a:pPr>
            <a:r>
              <a:t>Component: Jackfruit (Level 3)  |  Dept of CSE (AI &amp; ML), PES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PROBLEM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5F7FA"/>
                </a:solidFill>
              </a:defRPr>
            </a:pPr>
            <a:r>
              <a:t>Regulatory Context: EIA Screening in India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CA3AF"/>
                </a:solidFill>
              </a:defRPr>
            </a:pPr>
            <a:r>
              <a:t>Why pre-screening precision is critical prior to environmental appraisal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14203C"/>
          </a:solidFill>
          <a:ln w="12700">
            <a:solidFill>
              <a:srgbClr val="233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The Statutory Mandate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68880"/>
            <a:ext cx="2834640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Before an industrial or infrastructure project is built in India, it requires prior clearance under EIA Notification, 2006.</a:t>
            </a:r>
          </a:p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Clearance is decided at the screening stage before environmental impact assessment begins.</a:t>
            </a:r>
          </a:p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Answers: Is the project in the Schedule at all? And is it Category A or Category B?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291840" cy="4389120"/>
          </a:xfrm>
          <a:prstGeom prst="roundRect">
            <a:avLst/>
          </a:prstGeom>
          <a:solidFill>
            <a:srgbClr val="14203C"/>
          </a:solidFill>
          <a:ln w="12700">
            <a:solidFill>
              <a:srgbClr val="233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011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High Cost of Error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468880"/>
            <a:ext cx="2834640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Category A: Appraised by Central MoEFCC on EAC recommendation (national level).</a:t>
            </a:r>
          </a:p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Category B: Appraised by State SEIAA / SEAC (state level).</a:t>
            </a:r>
          </a:p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A clearance granted at the wrong tier can be set aside by the National Green Tribunal (NGT) even after work begins.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383280" cy="4389120"/>
          </a:xfrm>
          <a:prstGeom prst="roundRect">
            <a:avLst/>
          </a:prstGeom>
          <a:solidFill>
            <a:srgbClr val="14203C"/>
          </a:solidFill>
          <a:ln w="12700">
            <a:solidFill>
              <a:srgbClr val="233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2011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System Philosophy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468880"/>
            <a:ext cx="2926080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Production service, not an exploratory notebook.</a:t>
            </a:r>
          </a:p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Never determines clearance authoritatively; produces a cited screening opinion.</a:t>
            </a:r>
          </a:p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Every decision grounded in retrieved provisions. Accredited consultant makes final decision.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CORE TECHNICAL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5F7FA"/>
                </a:solidFill>
              </a:defRPr>
            </a:pPr>
            <a:r>
              <a:t>The Difficult Case (§4.1) &amp; Retrieval Traps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CA3AF"/>
                </a:solidFill>
              </a:defRPr>
            </a:pPr>
            <a:r>
              <a:t>Why naive semantic RAG fails and multi-agent reasoning is required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4203C"/>
          </a:solidFill>
          <a:ln w="12700">
            <a:solidFill>
              <a:srgbClr val="233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The Demonstration Test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68880"/>
            <a:ext cx="4663440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Scenario: An industrial cement plant of 0.8 MTPA capacity, located 2.0 km from a National Park boundary.</a:t>
            </a:r>
          </a:p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The Naive RAG Trap: Schedule row 3(b) classifies capacity &lt; 1.0 MTPA as Category B. Semantic similarity solely matches the project type.</a:t>
            </a:r>
          </a:p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Reporting Category B is a critical failure: The system returns the wrong legal tier!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14203C"/>
          </a:solidFill>
          <a:ln w="12700">
            <a:solidFill>
              <a:srgbClr val="233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0116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The Agentic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468880"/>
            <a:ext cx="4754880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The General Condition (GC): Printed in a note after the Schedule table, treats Cat B projects within 5 km of Protected Areas as Category A.</a:t>
            </a:r>
          </a:p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Multi-Step Reasoning: Screener retrieves Schedule 3(b), detects column 5 'GC shall apply', and invokes 'find_modifiers'.</a:t>
            </a:r>
          </a:p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Dual Grounded Citation: Final answer cites BOTH Schedule 3(b) and General Condition S.O. 1599(E).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5F7FA"/>
                </a:solidFill>
              </a:defRPr>
            </a:pPr>
            <a:r>
              <a:t>Multi-Agent Topology &amp; Reasoning Layer (A1–A3)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CA3AF"/>
                </a:solidFill>
              </a:defRPr>
            </a:pPr>
            <a:r>
              <a:t>Orchestrated using LangGraph with distinct agent responsibilities and hand-offs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14203C"/>
          </a:solidFill>
          <a:ln w="12700">
            <a:solidFill>
              <a:srgbClr val="233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1. Extractor Node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68880"/>
            <a:ext cx="2834640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Parses project description and structured fields.</a:t>
            </a:r>
          </a:p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L4 Input Guardrail: Performs prompt injection defense on all free-text fields.</a:t>
            </a:r>
          </a:p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Extracts capacity, location, and sensitive feature proximity.</a:t>
            </a:r>
          </a:p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Identifies missing or uncertain boundary fields.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291840" cy="4389120"/>
          </a:xfrm>
          <a:prstGeom prst="roundRect">
            <a:avLst/>
          </a:prstGeom>
          <a:solidFill>
            <a:srgbClr val="14203C"/>
          </a:solidFill>
          <a:ln w="12700">
            <a:solidFill>
              <a:srgbClr val="233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011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2. Screener Node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468880"/>
            <a:ext cx="2834640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Evaluates capacity against statutory thresholds.</a:t>
            </a:r>
          </a:p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Dynamic Tool Calling: Calls 'search_corpus', 'get_clause', and 'find_modifiers'.</a:t>
            </a:r>
          </a:p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Discovers General Condition S.O. 1599(E) 5 km / 10 km rules.</a:t>
            </a:r>
          </a:p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Evaluates F7 escalation boundaries.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383280" cy="4389120"/>
          </a:xfrm>
          <a:prstGeom prst="roundRect">
            <a:avLst/>
          </a:prstGeom>
          <a:solidFill>
            <a:srgbClr val="14203C"/>
          </a:solidFill>
          <a:ln w="12700">
            <a:solidFill>
              <a:srgbClr val="233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2011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3. Verifier Node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468880"/>
            <a:ext cx="2926080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Requirement A3: Every citation must resolve to retrieved text.</a:t>
            </a:r>
          </a:p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Category A via GC must cite BOTH Schedule row and GC text.</a:t>
            </a:r>
          </a:p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Validates Category/Route agreement.</a:t>
            </a:r>
          </a:p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Bounded loops: max 10 steps, 8 tool calls, 2 verifier retries.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CORPUS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5F7FA"/>
                </a:solidFill>
              </a:defRPr>
            </a:pPr>
            <a:r>
              <a:t>Confirmed Corpus &amp; Hand-Verified Knowledge 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CA3AF"/>
                </a:solidFill>
              </a:defRPr>
            </a:pPr>
            <a:r>
              <a:t>Addressing OCR table flaws with structured statutory metadata (L1 / D2)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4203C"/>
          </a:solidFill>
          <a:ln w="12700">
            <a:solidFill>
              <a:srgbClr val="233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123 MoEFCC Documents &amp; Manifest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68880"/>
            <a:ext cx="4663440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Consolidated Notification 2006 (TNPCB text amended up to March 2025).</a:t>
            </a:r>
          </a:p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77 Official Gazette Amendments: S.O. 1939(E) to S.O. 3372(E).</a:t>
            </a:r>
          </a:p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44 Office Memoranda: Proximity, critically polluted areas, and wildlife clearances.</a:t>
            </a:r>
          </a:p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data/corpus_manifest.csv: Full SHA-256 provenance tracking.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14203C"/>
          </a:solidFill>
          <a:ln w="12700">
            <a:solidFill>
              <a:srgbClr val="233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0116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Structured Threshold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468880"/>
            <a:ext cx="4754880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The Glyph Problem: Scanners and PDF parsers drop '≥' and '≤' symbols from Schedule tables.</a:t>
            </a:r>
          </a:p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data/schedule_thresholds.yaml: Hand-verified thresholds checked against gazette text.</a:t>
            </a:r>
          </a:p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Provision-level chunking: One chunk per Schedule item, General Condition note, and Paragraph 4 clause.</a:t>
            </a:r>
          </a:p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Idempotent indexing pipeline recording data freshness.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PLATFORM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5F7FA"/>
                </a:solidFill>
              </a:defRPr>
            </a:pPr>
            <a:r>
              <a:t>Ingestion Boundary &amp; Quarantine Isolation (D1 / F2)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CA3AF"/>
                </a:solidFill>
              </a:defRPr>
            </a:pPr>
            <a:r>
              <a:t>Strict validation preventing malformed requests from launching agent runs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4203C"/>
          </a:solidFill>
          <a:ln w="12700">
            <a:solidFill>
              <a:srgbClr val="233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Published Data Contract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68880"/>
            <a:ext cx="4663440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POST /v1/screenings enforced via strict Pydantic models.</a:t>
            </a:r>
          </a:p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Schema, type, range, categorical, and cross-field validation.</a:t>
            </a:r>
          </a:p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Rejects negative capacity (e.g. -5 MTPA), negative proximity, and unit mismatches (MW for cement plants).</a:t>
            </a:r>
          </a:p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Returns HTTP 422 Unprocessable Entity with field errors.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14203C"/>
          </a:solidFill>
          <a:ln w="12700">
            <a:solidFill>
              <a:srgbClr val="233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0116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Quarantine Architecture (Demo Item 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468880"/>
            <a:ext cx="4754880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Malformed payloads are immediately quarantined to data/quarantined_records.json.</a:t>
            </a:r>
          </a:p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Guaranteed: Zero agent runs started on invalid input.</a:t>
            </a:r>
          </a:p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Auditable via GET /v1/quarantine.</a:t>
            </a:r>
          </a:p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Async execution pattern: Valid requests return HTTP 202 Accepted + polling endpoint.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RELIABILITY &amp;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5F7FA"/>
                </a:solidFill>
              </a:defRPr>
            </a:pPr>
            <a:r>
              <a:t>Knowing When NOT to Answer (Requirement F7)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CA3AF"/>
                </a:solidFill>
              </a:defRPr>
            </a:pPr>
            <a:r>
              <a:t>Escalating to human review when evidence is uncertain or conflicting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14203C"/>
          </a:solidFill>
          <a:ln w="12700">
            <a:solidFill>
              <a:srgbClr val="233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1. Proximity Uncertain (RC-8)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68880"/>
            <a:ext cx="2834640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Trigger: Nearest protected area distance omitted or estimated.</a:t>
            </a:r>
          </a:p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Boundary Check: When distance is estimated within ±1 km margin of statutory 5 km threshold (4.0–6.0 km).</a:t>
            </a:r>
          </a:p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Outcome: ESCALATE_TO_HUMAN (PROXIMITY_UNCERTAIN).</a:t>
            </a:r>
          </a:p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Prevents ungrounded legal assumptions.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291840" cy="4389120"/>
          </a:xfrm>
          <a:prstGeom prst="roundRect">
            <a:avLst/>
          </a:prstGeom>
          <a:solidFill>
            <a:srgbClr val="14203C"/>
          </a:solidFill>
          <a:ln w="12700">
            <a:solidFill>
              <a:srgbClr val="233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011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2. Amendment Conflict (RC-7)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468880"/>
            <a:ext cx="2834640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Trigger: Building &amp; Construction Item 8(a) projects.</a:t>
            </a:r>
          </a:p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Legal Conflict: S.O. 3999(E) was quashed by National Green Tribunal (Footnote 92 in consolidated text).</a:t>
            </a:r>
          </a:p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Outcome: ESCALATE_TO_HUMAN (AMENDMENT_CONFLICT).</a:t>
            </a:r>
          </a:p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System acknowledges contested jurisprudence.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383280" cy="4389120"/>
          </a:xfrm>
          <a:prstGeom prst="roundRect">
            <a:avLst/>
          </a:prstGeom>
          <a:solidFill>
            <a:srgbClr val="14203C"/>
          </a:solidFill>
          <a:ln w="12700">
            <a:solidFill>
              <a:srgbClr val="233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2011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3. Outside Corpus (RC-9)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468880"/>
            <a:ext cx="2926080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Trigger: Projects falling under Coastal Regulation Zone (CRZ Notification 2019/2011).</a:t>
            </a:r>
          </a:p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Statutory Reality: Governed by NCZMA/SCZMA, outside EIA 2006 Schedule.</a:t>
            </a:r>
          </a:p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Outcome: ESCALATE_TO_HUMAN (OUT_OF_CORPUS).</a:t>
            </a:r>
          </a:p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Cites CRZ jurisdictional advisory note.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LLMOPS &amp;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5F7FA"/>
                </a:solidFill>
              </a:defRPr>
            </a:pPr>
            <a:r>
              <a:t>20-Scenario Benchmark &amp; Metric Results (L2 / L3)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CA3AF"/>
                </a:solidFill>
              </a:defRPr>
            </a:pPr>
            <a:r>
              <a:t>Rigorous evaluation harness measuring Groundedness, Faithfulness, and Relevance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377440" cy="1371600"/>
          </a:xfrm>
          <a:prstGeom prst="roundRect">
            <a:avLst/>
          </a:prstGeom>
          <a:solidFill>
            <a:srgbClr val="14203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23774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0B981"/>
                </a:solidFill>
              </a:defRPr>
            </a:pPr>
            <a:r>
              <a:t>100.0%</a:t>
            </a:r>
          </a:p>
          <a:p>
            <a:pPr algn="ctr">
              <a:defRPr sz="1100" b="1">
                <a:solidFill>
                  <a:srgbClr val="9CA3AF"/>
                </a:solidFill>
              </a:defRPr>
            </a:pPr>
            <a:r>
              <a:t>FAITHFULNESS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828800"/>
            <a:ext cx="2377440" cy="1371600"/>
          </a:xfrm>
          <a:prstGeom prst="roundRect">
            <a:avLst/>
          </a:prstGeom>
          <a:solidFill>
            <a:srgbClr val="14203C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920240"/>
            <a:ext cx="23774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6B6D4"/>
                </a:solidFill>
              </a:defRPr>
            </a:pPr>
            <a:r>
              <a:t>100.0%</a:t>
            </a:r>
          </a:p>
          <a:p>
            <a:pPr algn="ctr">
              <a:defRPr sz="1100" b="1">
                <a:solidFill>
                  <a:srgbClr val="9CA3AF"/>
                </a:solidFill>
              </a:defRPr>
            </a:pPr>
            <a:r>
              <a:t>GROUNDEDNESS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2377440" cy="1371600"/>
          </a:xfrm>
          <a:prstGeom prst="roundRect">
            <a:avLst/>
          </a:prstGeom>
          <a:solidFill>
            <a:srgbClr val="14203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920240"/>
            <a:ext cx="23774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59E0B"/>
                </a:solidFill>
              </a:defRPr>
            </a:pPr>
            <a:r>
              <a:t>97.8%</a:t>
            </a:r>
          </a:p>
          <a:p>
            <a:pPr algn="ctr">
              <a:defRPr sz="1100" b="1">
                <a:solidFill>
                  <a:srgbClr val="9CA3AF"/>
                </a:solidFill>
              </a:defRPr>
            </a:pPr>
            <a:r>
              <a:t>CONTEXT RELEVANCE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828800"/>
            <a:ext cx="2468880" cy="1371600"/>
          </a:xfrm>
          <a:prstGeom prst="roundRect">
            <a:avLst/>
          </a:prstGeom>
          <a:solidFill>
            <a:srgbClr val="14203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1920240"/>
            <a:ext cx="24688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0B981"/>
                </a:solidFill>
              </a:defRPr>
            </a:pPr>
            <a:r>
              <a:t>0.0%</a:t>
            </a:r>
          </a:p>
          <a:p>
            <a:pPr algn="ctr">
              <a:defRPr sz="1100" b="1">
                <a:solidFill>
                  <a:srgbClr val="9CA3AF"/>
                </a:solidFill>
              </a:defRPr>
            </a:pPr>
            <a:r>
              <a:t>HALLUCINATION RATE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74720"/>
            <a:ext cx="5120640" cy="2743200"/>
          </a:xfrm>
          <a:prstGeom prst="roundRect">
            <a:avLst/>
          </a:prstGeom>
          <a:solidFill>
            <a:srgbClr val="14203C"/>
          </a:solidFill>
          <a:ln w="12700">
            <a:solidFill>
              <a:srgbClr val="233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6576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Deliberate Change Comparison (L3)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114800"/>
            <a:ext cx="46634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Variant A: Single-pass semantic retrieval fails on RC-1, RC-5, and RC-6 (General Condition missed).</a:t>
            </a:r>
          </a:p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Variant B: Multi-agent retrieval with 'find_modifiers' achieves 100% correct routing and citation.</a:t>
            </a:r>
          </a:p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Demonstrates architectural necessity of agentic tool calling over fixed RAG.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474720"/>
            <a:ext cx="5212080" cy="2743200"/>
          </a:xfrm>
          <a:prstGeom prst="roundRect">
            <a:avLst/>
          </a:prstGeom>
          <a:solidFill>
            <a:srgbClr val="14203C"/>
          </a:solidFill>
          <a:ln w="12700">
            <a:solidFill>
              <a:srgbClr val="233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657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Prompt Versioning &amp; Feedback (L2 / L6)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114800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Prompt v1 vs v2 compared across all 20 scenarios.</a:t>
            </a:r>
          </a:p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Response payloads record active prompt version for run audit.</a:t>
            </a:r>
          </a:p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POST /v1/screenings/{id}/feedback captures consultant feedback with satisfaction scoring.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OBSERVABILITY &amp; SRE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5F7FA"/>
                </a:solidFill>
              </a:defRPr>
            </a:pPr>
            <a:r>
              <a:t>Observability, Telemetry &amp; Declared SLO (D5 / D6)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CA3AF"/>
                </a:solidFill>
              </a:defRPr>
            </a:pPr>
            <a:r>
              <a:t>Tracing, Prometheus metrics, and load testing against declared service level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4203C"/>
          </a:solidFill>
          <a:ln w="12700">
            <a:solidFill>
              <a:srgbClr val="233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Declared Service Level Objective (D6)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68880"/>
            <a:ext cx="4663440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Declared Target: p95 end-to-end latency ≤ 60.0s at 10 concurrency with stub LLM.</a:t>
            </a:r>
          </a:p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Justification: Pre-screening precedes months of appraisal; correctness and verification outweigh raw speed.</a:t>
            </a:r>
          </a:p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Load Test with Locust: Simulated 10 concurrent consultants polling status.</a:t>
            </a:r>
          </a:p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Measured Result: Sub-second execution (&lt; 0.05s) well within declared 60s SLO deadline.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14203C"/>
          </a:solidFill>
          <a:ln w="12700">
            <a:solidFill>
              <a:srgbClr val="233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0116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Telemetry &amp; Run Reconstruction (D5 / F8)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468880"/>
            <a:ext cx="4754880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Correlation ID propagated across all services and steps.</a:t>
            </a:r>
          </a:p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OpenTelemetry distributed tracing exported to Jaeger.</a:t>
            </a:r>
          </a:p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Prometheus /metrics endpoint exposes: eia_screening_requests_total, eia_run_duration_seconds, eia_agent_steps_total, and data freshness gauges.</a:t>
            </a:r>
          </a:p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Full run reconstruction by run_id: Every tool call, passage, and verification outcome.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DEPLOYMENT &amp;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5F7FA"/>
                </a:solidFill>
              </a:defRPr>
            </a:pPr>
            <a:r>
              <a:t>Docker Compose Architecture &amp; Scaling (D3 / A7)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CA3AF"/>
                </a:solidFill>
              </a:defRPr>
            </a:pPr>
            <a:r>
              <a:t>Five containerized services running from a clean clone with horizontal scaling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14203C"/>
          </a:solidFill>
          <a:ln w="12700">
            <a:solidFill>
              <a:srgbClr val="233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1. API &amp; Worker Tier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68880"/>
            <a:ext cx="2834640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eia-api: FastAPI ingestion boundary and web UI client on port 8000.</a:t>
            </a:r>
          </a:p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agent-worker: Scalable asynchronous task processor.</a:t>
            </a:r>
          </a:p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Horizontal Worker Scaling (A7): docker compose up --scale agent-worker=3.</a:t>
            </a:r>
          </a:p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Isolates heavy agent reasoning from fast I/O validation.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291840" cy="4389120"/>
          </a:xfrm>
          <a:prstGeom prst="roundRect">
            <a:avLst/>
          </a:prstGeom>
          <a:solidFill>
            <a:srgbClr val="14203C"/>
          </a:solidFill>
          <a:ln w="12700">
            <a:solidFill>
              <a:srgbClr val="233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011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2. Queue &amp; Caching Tier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468880"/>
            <a:ext cx="2834640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eia-redis: Redis 7 on port 6379.</a:t>
            </a:r>
          </a:p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Queue decoupling: submissions never block HTTP requests.</a:t>
            </a:r>
          </a:p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Run Caching (D7): identical payloads served instantly with zero model calls.</a:t>
            </a:r>
          </a:p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Per-client rate limiting (60 req/min) prevents budget exhaustion.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383280" cy="4389120"/>
          </a:xfrm>
          <a:prstGeom prst="roundRect">
            <a:avLst/>
          </a:prstGeom>
          <a:solidFill>
            <a:srgbClr val="14203C"/>
          </a:solidFill>
          <a:ln w="12700">
            <a:solidFill>
              <a:srgbClr val="233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2011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3. Observability Tier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468880"/>
            <a:ext cx="2926080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eia-prometheus: Scrapes metrics every 5s on port 9090.</a:t>
            </a:r>
          </a:p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eia-jaeger: Distributed tracing UI on port 16686 (OTLP on port 4318).</a:t>
            </a:r>
          </a:p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Single command: docker compose up -d from clean clone.</a:t>
            </a:r>
          </a:p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Zero secrets in repo (.env / .env.example).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VIVA &amp;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5F7FA"/>
                </a:solidFill>
              </a:defRPr>
            </a:pPr>
            <a:r>
              <a:t>Demonstration Checklist: All 10 Items Verified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CA3AF"/>
                </a:solidFill>
              </a:defRPr>
            </a:pPr>
            <a:r>
              <a:t>Automated demonstration script (demo.py) passing all Section 9 criteria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4203C"/>
          </a:solidFill>
          <a:ln w="12700">
            <a:solidFill>
              <a:srgbClr val="233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Items 1 to 5 (Core Operations)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68880"/>
            <a:ext cx="4663440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1. Docker compose up from clean clone to healthy system (GET /health 200 OK).</a:t>
            </a:r>
          </a:p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2. Valid request producing routed recommendation with citations.</a:t>
            </a:r>
          </a:p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3. End-to-end run trace with correlation ID, latency, and steps.</a:t>
            </a:r>
          </a:p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4. Malformed request quarantined at boundary (HTTP 422, agent_started=False).</a:t>
            </a:r>
          </a:p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5. Case corpus cannot answer (CRZ beach resort) escalates to human.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14203C"/>
          </a:solidFill>
          <a:ln w="12700">
            <a:solidFill>
              <a:srgbClr val="233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0116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Items 6 to 10 (Safety &amp; Performance)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468880"/>
            <a:ext cx="4754880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6. Self-verification catching ungrounded answers.</a:t>
            </a:r>
          </a:p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7. Prompt injection attack detected by guardrail and halted.</a:t>
            </a:r>
          </a:p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8. Circuit breaker tripping to OPEN after provider failures.</a:t>
            </a:r>
          </a:p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9. Locust load test results satisfying declared p95 ≤ 60s SLO.</a:t>
            </a:r>
          </a:p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10. Section 4.1 Difficult Case (Cement 2 km NP) correctly routed to Cat A Central.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SUMMARY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5F7FA"/>
                </a:solidFill>
              </a:defRPr>
            </a:pPr>
            <a:r>
              <a:t>Engineering Judgement &amp; Project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CA3AF"/>
                </a:solidFill>
              </a:defRPr>
            </a:pPr>
            <a:r>
              <a:t>A robust, verified, and production-ready pre-screening service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4203C"/>
          </a:solidFill>
          <a:ln w="12700">
            <a:solidFill>
              <a:srgbClr val="233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Key Engineering Decisions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68880"/>
            <a:ext cx="4663440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LangGraph over Fixed Pipeline: Enabled conditional search loops and explicit modifier retrieval.</a:t>
            </a:r>
          </a:p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Hand-Verified Threshold YAML: Overcame OCR table extraction loss of mathematical operators.</a:t>
            </a:r>
          </a:p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Boundary Quarantine: Saved cloud budget and prevented invalid runs before queue dispatch.</a:t>
            </a:r>
          </a:p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Production Runbook (D8): Documented recovery for circuit breaker trip and queue starvation.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14203C"/>
          </a:solidFill>
          <a:ln w="12700">
            <a:solidFill>
              <a:srgbClr val="233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0116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Deliverables Completed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468880"/>
            <a:ext cx="4754880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100% of Functional (F1–F8), Agent (A1–A8), LLMOps (L1–L6), and Platform (D1–D8) Requirements.</a:t>
            </a:r>
          </a:p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20-Scenario Benchmark Suite with 100% Faithfulness and Groundedness.</a:t>
            </a:r>
          </a:p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Full documentation: README.md, docs/RUNBOOK.md, docs/EVAL1_corpus_and_plan.md.</a:t>
            </a:r>
          </a:p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</a:defRPr>
            </a:pPr>
            <a:r>
              <a:t>• Live GitHub Repository: github.com/pallaviB463/Environmental-Clearance-MLOps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